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9FD3-93A3-5722-D1B9-62CF32D99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332D9-2722-8703-57BF-54F8C0821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C703A-1EE9-9FBD-7885-6AEDB6A9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00F57-A838-9FD6-387C-7C12BEE3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68F92-8B52-D65F-AF2E-09904A24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17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B67D-34C8-A33D-120C-956582CD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2F4B4-0348-CDED-2718-F69D72606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640A3-E265-4DF6-B992-92DA2A11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84E90-C391-2E82-4241-E048E554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9F60C-344C-6DB6-4DDF-02D32C82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28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C738D-A376-ABE6-9C43-0A81EAEE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ED893-3B3E-0DF5-4F4D-1F98654D2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BC70A-4AD0-7DC7-6BAC-C7B5A86B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A2DD5-5F4F-0FBE-E8EB-7410CB34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45BA1-25A2-5C9A-16A2-B0518FC2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95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F0C48-F72C-3963-077B-3E7B39AB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F3185-1CD7-1750-DD79-BE6420482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0E1F9-B9B6-8E78-A454-172FB892B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FA596-61FC-F9EC-B7E2-2BA021235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A2474-334B-FCA2-C6DE-C0C0C79C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D85CC-BECF-FE6B-06B4-58AD1316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810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F587-E0A1-64F5-1272-B57288153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A9DE5-745C-D905-7CBC-669745D45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577FD-EF98-FF0E-202E-1AA37218D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A77DB-FC14-816D-03B7-871AAE0D3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3021F-24F7-E758-5359-7F8E3AD59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6BEC7-0B3B-336E-B4CE-26683D269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F978D-5E8D-60B1-A2A2-8CFFABC7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066D3-38E3-A8C1-B09B-AF4B20DD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97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78F0-B9F9-A32D-EDDC-13FD1AE4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A3058-81F7-6FBC-290F-33D4A1CE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3DAFD-B7E1-346B-751E-BFDC632F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1D08B-6226-9A5A-0051-5FEABA55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98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5FED6-1F46-0702-CF57-6578100D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E4B10-FBE3-7759-2EA4-E41B38B83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58979-7841-35E4-E8C1-4FD8CF4D7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16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0BE5-123D-5584-CD75-3F7AE1617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E5E03-3BB1-A3BB-E3FA-F5BDE7D94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0410A-62DE-DBEA-5C94-59CFAE397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58D31-BE70-7952-6376-15D89579E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F46A5-93CD-E3EE-6CBC-2FD16E40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20408-C946-B00E-21F1-30332CAF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60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4AFB-DABE-D754-31F7-ABC38D088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3500A4-3E68-2474-C96A-A3371EF88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A1D6E-73AC-8D28-6B0B-411E77AF0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BFE47-50A4-965E-5BE3-64631CEB8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1B417-58F9-5278-F35C-83E613817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D8302-E643-88D3-7560-D098F9D9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39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40B4-A7BF-5C90-03F8-83B49907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5D05F-1703-59DE-F373-9E79A1126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B66E2-5E88-9C48-2BA3-822875B3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4AADB-8AA8-5A91-02F3-B16C8870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21075-95EC-A7C3-59DC-E04532AD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38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DDC96-7C34-B4DF-B719-0E67D1CBF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9DB66-49EF-3006-C05B-3A14C2AC5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A1F8C-8156-DD6B-3ADC-7945C2C1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81E5E-4922-9C00-14BE-9A1BF70B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5E9E0-3566-E8F1-CC30-00367ED5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646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7B312-2F16-0704-6754-26F20E57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B3BBA-8562-F86A-059D-F0A5FB8A3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DDC9-F883-543F-EACA-94529BBF6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2558F-CE01-46FE-8E79-5F00E4D1CF0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3D1DA-460B-84F1-B4F6-A45BBBDDF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1F49-1CE9-0EAD-052C-71D1F335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FAE16-BA09-4932-B764-5F462EA909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46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nlbse2023.github.io/tool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nlbse2023.github.io/tools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130B-76F1-7809-7D94-1249CBC3F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Project 2: Code Comment Classification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92CEA-0933-2E40-05E8-6E6DDFE86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27458"/>
          </a:xfrm>
        </p:spPr>
        <p:txBody>
          <a:bodyPr/>
          <a:lstStyle/>
          <a:p>
            <a:r>
              <a:rPr lang="en-GB" dirty="0"/>
              <a:t>Using Machine Learning and Deep Learning for Multi-Label Classification of Code Comments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D10EA-C504-D84B-744A-51CD97C27972}"/>
              </a:ext>
            </a:extLst>
          </p:cNvPr>
          <p:cNvSpPr txBox="1"/>
          <p:nvPr/>
        </p:nvSpPr>
        <p:spPr>
          <a:xfrm>
            <a:off x="1524000" y="5530789"/>
            <a:ext cx="58879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Presented by:</a:t>
            </a:r>
            <a:r>
              <a:rPr lang="en-GB" dirty="0"/>
              <a:t> Luca Francesco Macera and Calogero Carlino</a:t>
            </a:r>
            <a:br>
              <a:rPr lang="en-GB" dirty="0"/>
            </a:br>
            <a:r>
              <a:rPr lang="en-GB" b="1" dirty="0"/>
              <a:t>Dataset:</a:t>
            </a:r>
            <a:r>
              <a:rPr lang="en-GB" dirty="0"/>
              <a:t> NLBSE’23 Tool Competition Dataset (6,738 samples)</a:t>
            </a:r>
            <a:br>
              <a:rPr lang="en-GB" dirty="0"/>
            </a:br>
            <a:r>
              <a:rPr lang="en-GB" b="1" dirty="0"/>
              <a:t>Link: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https://nlbse2023.github.io/tools/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76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BB5D-90D6-70FA-9D37-CD85EDD6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Code Comment Classification?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1659-173E-FD38-5C4F-96814A5FE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Code comments are natural language annotations in software code.</a:t>
            </a:r>
          </a:p>
          <a:p>
            <a:pPr marL="0" indent="0">
              <a:buNone/>
            </a:pPr>
            <a:r>
              <a:rPr lang="en-GB" dirty="0"/>
              <a:t>They describe the purpose, functionality, or behaviour of code.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Automatically classifying comments helps in:</a:t>
            </a:r>
          </a:p>
          <a:p>
            <a:r>
              <a:rPr lang="en-GB" dirty="0"/>
              <a:t>Improving software documentation.</a:t>
            </a:r>
          </a:p>
          <a:p>
            <a:r>
              <a:rPr lang="en-GB" dirty="0"/>
              <a:t>Enhancing code readability and maintenance.</a:t>
            </a:r>
          </a:p>
          <a:p>
            <a:r>
              <a:rPr lang="en-GB" dirty="0"/>
              <a:t>Enabling better developer tools and automated summarization.</a:t>
            </a:r>
          </a:p>
        </p:txBody>
      </p:sp>
    </p:spTree>
    <p:extLst>
      <p:ext uri="{BB962C8B-B14F-4D97-AF65-F5344CB8AC3E}">
        <p14:creationId xmlns:p14="http://schemas.microsoft.com/office/powerpoint/2010/main" val="78537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A8D6-594B-AFBE-3DD1-02BFD252F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9F195-57F8-7FED-8D76-139A5C5F1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65076"/>
          </a:xfrm>
        </p:spPr>
        <p:txBody>
          <a:bodyPr/>
          <a:lstStyle/>
          <a:p>
            <a:pPr marL="0" indent="0">
              <a:buNone/>
            </a:pPr>
            <a:r>
              <a:rPr lang="en-GB" b="1" u="sng" dirty="0"/>
              <a:t>Goal:</a:t>
            </a:r>
            <a:r>
              <a:rPr lang="en-GB" dirty="0"/>
              <a:t> Develop a model to automatically </a:t>
            </a:r>
            <a:r>
              <a:rPr lang="en-GB" b="1" dirty="0"/>
              <a:t>classify code comments</a:t>
            </a:r>
            <a:r>
              <a:rPr lang="en-GB" dirty="0"/>
              <a:t> into </a:t>
            </a:r>
            <a:r>
              <a:rPr lang="en-GB" b="1" dirty="0"/>
              <a:t>multiple relevant categories</a:t>
            </a:r>
            <a:r>
              <a:rPr lang="en-GB" dirty="0"/>
              <a:t>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93622C-D6AC-C238-F871-3B1BD06BBF2A}"/>
              </a:ext>
            </a:extLst>
          </p:cNvPr>
          <p:cNvSpPr txBox="1">
            <a:spLocks/>
          </p:cNvSpPr>
          <p:nvPr/>
        </p:nvSpPr>
        <p:spPr>
          <a:xfrm>
            <a:off x="838200" y="3051957"/>
            <a:ext cx="6310745" cy="31250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u="sng" dirty="0"/>
              <a:t>Challenges:</a:t>
            </a:r>
          </a:p>
          <a:p>
            <a:r>
              <a:rPr lang="en-GB" dirty="0"/>
              <a:t>Comments can belong to more than one class (multi-label classification).</a:t>
            </a:r>
          </a:p>
          <a:p>
            <a:r>
              <a:rPr lang="en-GB" dirty="0"/>
              <a:t>Comments are short and context-dependent.</a:t>
            </a:r>
          </a:p>
          <a:p>
            <a:r>
              <a:rPr lang="en-GB" dirty="0"/>
              <a:t>High variability in wording and style between developers.</a:t>
            </a:r>
          </a:p>
        </p:txBody>
      </p:sp>
      <p:pic>
        <p:nvPicPr>
          <p:cNvPr id="2052" name="Picture 4" descr="Software Development - Free seo and web icons">
            <a:extLst>
              <a:ext uri="{FF2B5EF4-FFF2-40B4-BE49-F238E27FC236}">
                <a16:creationId xmlns:a16="http://schemas.microsoft.com/office/drawing/2014/main" id="{B2567BFA-9059-BC16-0367-D3CC97556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836" y="2510641"/>
            <a:ext cx="3511138" cy="351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001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BC10-8107-AE3E-FB19-21725CF57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4514C-7562-6EBA-766B-BA55C1EB5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1315" y="1672869"/>
            <a:ext cx="4652136" cy="49060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Source:</a:t>
            </a:r>
            <a:r>
              <a:rPr lang="en-GB" dirty="0"/>
              <a:t> NLBSE’23 Tool Competition Dataset</a:t>
            </a:r>
          </a:p>
          <a:p>
            <a:r>
              <a:rPr lang="en-GB" b="1" dirty="0"/>
              <a:t>Total classes:</a:t>
            </a:r>
            <a:r>
              <a:rPr lang="en-GB" dirty="0"/>
              <a:t> 6,738</a:t>
            </a:r>
          </a:p>
          <a:p>
            <a:r>
              <a:rPr lang="en-GB" b="1" dirty="0"/>
              <a:t>Data type:</a:t>
            </a:r>
            <a:r>
              <a:rPr lang="en-GB" dirty="0"/>
              <a:t> Actual sentence string</a:t>
            </a:r>
          </a:p>
          <a:p>
            <a:r>
              <a:rPr lang="en-GB" b="1" dirty="0"/>
              <a:t>Format:</a:t>
            </a:r>
            <a:r>
              <a:rPr lang="en-GB" dirty="0"/>
              <a:t> each row represent a sentence (aka an instance) and each sentence contains multiple labels</a:t>
            </a:r>
          </a:p>
          <a:p>
            <a:r>
              <a:rPr lang="en-GB" b="1" dirty="0"/>
              <a:t>Task:</a:t>
            </a:r>
            <a:r>
              <a:rPr lang="en-GB" dirty="0"/>
              <a:t> Predict comment class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1086B3-3E1F-F801-314A-AD93E29C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07" y="1586815"/>
            <a:ext cx="6373114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1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6366-9FFE-214A-B8A3-671E7F50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1158-FC14-3C51-8D1F-9F30C5082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191992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Data Preprocessing</a:t>
            </a:r>
          </a:p>
          <a:p>
            <a:pPr lvl="1"/>
            <a:r>
              <a:rPr lang="en-GB" dirty="0"/>
              <a:t>Clean and tokenize text</a:t>
            </a:r>
          </a:p>
          <a:p>
            <a:pPr lvl="1"/>
            <a:r>
              <a:rPr lang="en-GB" dirty="0"/>
              <a:t>Handle class imbalance (if present)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Model Implementation</a:t>
            </a:r>
          </a:p>
          <a:p>
            <a:pPr lvl="1"/>
            <a:r>
              <a:rPr lang="en-GB" dirty="0"/>
              <a:t>Apply Machine Learning (e.g., SVM, Random Forest) or Deep Learning (e.g., LSTM, BERT, </a:t>
            </a:r>
            <a:r>
              <a:rPr lang="en-GB" dirty="0" err="1"/>
              <a:t>RoBERTa</a:t>
            </a:r>
            <a:r>
              <a:rPr lang="en-GB" dirty="0"/>
              <a:t>) classifiers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Evaluation Setup</a:t>
            </a:r>
          </a:p>
          <a:p>
            <a:pPr lvl="1"/>
            <a:r>
              <a:rPr lang="en-GB" dirty="0"/>
              <a:t>Use k-fold cross-validation</a:t>
            </a:r>
          </a:p>
          <a:p>
            <a:pPr lvl="1"/>
            <a:r>
              <a:rPr lang="en-GB" dirty="0"/>
              <a:t>Evaluate using metrics such as F1-score, Precision, Recall</a:t>
            </a:r>
          </a:p>
        </p:txBody>
      </p:sp>
      <p:pic>
        <p:nvPicPr>
          <p:cNvPr id="3079" name="Picture 7" descr="Machine Learning Workflow: Di Balik Model AI yang Sukses">
            <a:extLst>
              <a:ext uri="{FF2B5EF4-FFF2-40B4-BE49-F238E27FC236}">
                <a16:creationId xmlns:a16="http://schemas.microsoft.com/office/drawing/2014/main" id="{E002187D-C829-653D-F274-7B9707DDDD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7064" y1="32030" x2="40239" y2="36681"/>
                        <a14:foregroundMark x1="43415" y1="61416" x2="47059" y2="70190"/>
                        <a14:foregroundMark x1="38470" y1="54757" x2="38470" y2="54757"/>
                        <a14:foregroundMark x1="38313" y1="54757" x2="38313" y2="57294"/>
                        <a14:foregroundMark x1="38209" y1="51903" x2="38678" y2="64059"/>
                        <a14:foregroundMark x1="38678" y1="64059" x2="40500" y2="68076"/>
                        <a14:foregroundMark x1="40500" y1="67336" x2="38990" y2="54545"/>
                        <a14:foregroundMark x1="38990" y1="54545" x2="39198" y2="52431"/>
                        <a14:foregroundMark x1="39094" y1="50106" x2="37533" y2="49789"/>
                        <a14:foregroundMark x1="38209" y1="48309" x2="39563" y2="48520"/>
                        <a14:foregroundMark x1="38574" y1="48732" x2="39094" y2="67548"/>
                        <a14:foregroundMark x1="49870" y1="33827" x2="49245" y2="47569"/>
                        <a14:foregroundMark x1="49245" y1="47569" x2="50390" y2="32241"/>
                        <a14:foregroundMark x1="43779" y1="31712" x2="34357" y2="34672"/>
                        <a14:foregroundMark x1="34357" y1="34672" x2="40968" y2="29915"/>
                        <a14:foregroundMark x1="50911" y1="32558" x2="52264" y2="32770"/>
                        <a14:foregroundMark x1="52941" y1="31501" x2="49245" y2="40909"/>
                        <a14:foregroundMark x1="49245" y1="40909" x2="49505" y2="56342"/>
                        <a14:foregroundMark x1="49505" y1="56342" x2="54503" y2="43340"/>
                        <a14:foregroundMark x1="54503" y1="43340" x2="53722" y2="31501"/>
                        <a14:foregroundMark x1="53722" y1="31501" x2="52941" y2="30761"/>
                        <a14:foregroundMark x1="53045" y1="29387" x2="47892" y2="41438"/>
                        <a14:foregroundMark x1="47892" y1="41438" x2="51327" y2="54545"/>
                        <a14:foregroundMark x1="51327" y1="54545" x2="56117" y2="40063"/>
                        <a14:foregroundMark x1="56117" y1="40063" x2="54971" y2="30444"/>
                        <a14:backgroundMark x1="63352" y1="45983" x2="60802" y2="59937"/>
                        <a14:backgroundMark x1="60802" y1="59937" x2="61426" y2="70613"/>
                        <a14:backgroundMark x1="61426" y1="70613" x2="64706" y2="52114"/>
                        <a14:backgroundMark x1="64706" y1="52114" x2="64602" y2="505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974" r="25153"/>
          <a:stretch>
            <a:fillRect/>
          </a:stretch>
        </p:blipFill>
        <p:spPr bwMode="auto">
          <a:xfrm>
            <a:off x="7267699" y="1457489"/>
            <a:ext cx="4879717" cy="5019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04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A0E0-4A4E-54EA-06D9-3B831DF8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and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10006-3BAC-60FF-E541-05F77D1A1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673" y="2003755"/>
            <a:ext cx="5428013" cy="4351338"/>
          </a:xfrm>
        </p:spPr>
        <p:txBody>
          <a:bodyPr/>
          <a:lstStyle/>
          <a:p>
            <a:r>
              <a:rPr lang="en-GB" dirty="0"/>
              <a:t>Compare model performance against baseline models (Transformer-based </a:t>
            </a:r>
            <a:r>
              <a:rPr lang="en-GB" dirty="0" err="1"/>
              <a:t>RoBERTa</a:t>
            </a:r>
            <a:r>
              <a:rPr lang="en-GB" dirty="0"/>
              <a:t> baseline)</a:t>
            </a:r>
          </a:p>
          <a:p>
            <a:r>
              <a:rPr lang="en-GB" dirty="0"/>
              <a:t>Use multi-label metrics for fair evaluation</a:t>
            </a:r>
          </a:p>
          <a:p>
            <a:r>
              <a:rPr lang="en-GB" dirty="0" err="1"/>
              <a:t>Analyze</a:t>
            </a:r>
            <a:r>
              <a:rPr lang="en-GB" dirty="0"/>
              <a:t> and interpret results to identify improvement areas</a:t>
            </a:r>
          </a:p>
        </p:txBody>
      </p:sp>
      <p:pic>
        <p:nvPicPr>
          <p:cNvPr id="4099" name="Picture 3" descr="The architecture of the proposed RoBERTa-GRU model. | Download Scientific  Diagram">
            <a:extLst>
              <a:ext uri="{FF2B5EF4-FFF2-40B4-BE49-F238E27FC236}">
                <a16:creationId xmlns:a16="http://schemas.microsoft.com/office/drawing/2014/main" id="{51289BDB-A620-E02C-17B8-4A5E347A1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34" y="1690688"/>
            <a:ext cx="512289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22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528EB-17CA-4037-9B83-90A967C3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F6C75-5CCD-0F83-863B-CE43A025D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Most effective ML/DL techniques for comment classification</a:t>
            </a:r>
          </a:p>
          <a:p>
            <a:r>
              <a:rPr lang="en-GB" dirty="0"/>
              <a:t>Gain insights into linguistic patterns in code comments</a:t>
            </a:r>
          </a:p>
          <a:p>
            <a:r>
              <a:rPr lang="en-GB" dirty="0"/>
              <a:t>Provide recommendations for better automated documentation tools</a:t>
            </a:r>
          </a:p>
        </p:txBody>
      </p:sp>
    </p:spTree>
    <p:extLst>
      <p:ext uri="{BB962C8B-B14F-4D97-AF65-F5344CB8AC3E}">
        <p14:creationId xmlns:p14="http://schemas.microsoft.com/office/powerpoint/2010/main" val="316392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A9E05-FCCD-1E47-A203-9B2A47D1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Code Comment Classification Is Useful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3FF85-31C1-309D-45D4-B85BC1359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Improves Software Maintenance</a:t>
            </a:r>
          </a:p>
          <a:p>
            <a:pPr lvl="1"/>
            <a:r>
              <a:rPr lang="en-GB" dirty="0"/>
              <a:t>Helps developers quickly understand the intent and functionality of code.</a:t>
            </a:r>
          </a:p>
          <a:p>
            <a:pPr lvl="1"/>
            <a:r>
              <a:rPr lang="en-GB" dirty="0"/>
              <a:t>Facilitates bug fixing, feature updates, and onboarding of new team members.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Enhances Documentation Quality</a:t>
            </a:r>
            <a:endParaRPr lang="en-GB" dirty="0"/>
          </a:p>
          <a:p>
            <a:pPr lvl="1"/>
            <a:r>
              <a:rPr lang="en-GB" dirty="0"/>
              <a:t>Automatically organizes and categorizes comments.</a:t>
            </a:r>
          </a:p>
          <a:p>
            <a:pPr lvl="1"/>
            <a:r>
              <a:rPr lang="en-GB" dirty="0"/>
              <a:t>Detects missing or outdated documentation.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7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E13F-C878-7A66-080E-EF1D82E97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B6A1A-BA06-34B5-6259-96C97B8B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Code Comment Classification Is Useful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6B0DDA0-E9FA-C42C-A04B-34EF1B58B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Enables Better Developer Tools</a:t>
            </a:r>
            <a:endParaRPr lang="en-GB" dirty="0"/>
          </a:p>
          <a:p>
            <a:pPr lvl="1"/>
            <a:r>
              <a:rPr lang="en-GB" dirty="0"/>
              <a:t>Powers intelligent search and recommendation systems in IDEs.</a:t>
            </a:r>
          </a:p>
          <a:p>
            <a:pPr lvl="1"/>
            <a:r>
              <a:rPr lang="en-GB" dirty="0"/>
              <a:t>Supports automated documentation generation and code summarization.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Supports Software Analytics</a:t>
            </a:r>
            <a:endParaRPr lang="en-GB" dirty="0"/>
          </a:p>
          <a:p>
            <a:pPr lvl="1"/>
            <a:r>
              <a:rPr lang="en-GB" dirty="0"/>
              <a:t>Provides insights into developer </a:t>
            </a:r>
            <a:r>
              <a:rPr lang="en-GB" dirty="0" err="1"/>
              <a:t>behavior</a:t>
            </a:r>
            <a:r>
              <a:rPr lang="en-GB" dirty="0"/>
              <a:t>, code quality, and project evolution.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GB" b="1" dirty="0"/>
              <a:t>Saves Time and Effort</a:t>
            </a:r>
            <a:endParaRPr lang="en-GB" dirty="0"/>
          </a:p>
          <a:p>
            <a:pPr lvl="1"/>
            <a:r>
              <a:rPr lang="en-GB" dirty="0"/>
              <a:t>Reduces manual </a:t>
            </a:r>
            <a:r>
              <a:rPr lang="en-GB" dirty="0" err="1"/>
              <a:t>labeling</a:t>
            </a:r>
            <a:r>
              <a:rPr lang="en-GB" dirty="0"/>
              <a:t> and review of large codebases.</a:t>
            </a:r>
          </a:p>
          <a:p>
            <a:pPr lvl="1"/>
            <a:r>
              <a:rPr lang="en-GB" dirty="0"/>
              <a:t>Streamlines workflows in large software projects.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6959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F5BC-71F3-CCF8-5173-CB2FD3E9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Future Work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524A3-B1F0-3FE3-75C5-3482B2AE2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Extend dataset with more repositories</a:t>
            </a:r>
          </a:p>
          <a:p>
            <a:r>
              <a:rPr lang="en-GB" dirty="0"/>
              <a:t>Incorporate code context (not just comments)</a:t>
            </a:r>
          </a:p>
          <a:p>
            <a:r>
              <a:rPr lang="en-GB" dirty="0"/>
              <a:t>Fine-tune advanced transformer models for domain-specific optimization</a:t>
            </a:r>
          </a:p>
        </p:txBody>
      </p:sp>
      <p:pic>
        <p:nvPicPr>
          <p:cNvPr id="6147" name="Picture 3" descr="Future - Free time and date icons">
            <a:extLst>
              <a:ext uri="{FF2B5EF4-FFF2-40B4-BE49-F238E27FC236}">
                <a16:creationId xmlns:a16="http://schemas.microsoft.com/office/drawing/2014/main" id="{F5D33BC3-1585-DFB9-E912-1522ADE53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123" y="3793342"/>
            <a:ext cx="2518558" cy="251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343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94C0-E0BE-39E1-9302-D99F9A3E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5102-018D-5E54-0DD1-DECA3F43B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Project 2: Code Comment Classification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788C4-E6B9-7192-F975-E22F68F94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27458"/>
          </a:xfrm>
        </p:spPr>
        <p:txBody>
          <a:bodyPr/>
          <a:lstStyle/>
          <a:p>
            <a:r>
              <a:rPr lang="en-GB" dirty="0"/>
              <a:t>Using Machine Learning and Deep Learning for Multi-Label Classification of Code Comments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76633-8B00-E96D-6274-6AF4609A3212}"/>
              </a:ext>
            </a:extLst>
          </p:cNvPr>
          <p:cNvSpPr txBox="1"/>
          <p:nvPr/>
        </p:nvSpPr>
        <p:spPr>
          <a:xfrm>
            <a:off x="1524000" y="5530789"/>
            <a:ext cx="58879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Presented by:</a:t>
            </a:r>
            <a:r>
              <a:rPr lang="en-GB" dirty="0"/>
              <a:t> Luca Francesco Macera and Calogero Carlino</a:t>
            </a:r>
            <a:br>
              <a:rPr lang="en-GB" dirty="0"/>
            </a:br>
            <a:r>
              <a:rPr lang="en-GB" b="1" dirty="0"/>
              <a:t>Dataset:</a:t>
            </a:r>
            <a:r>
              <a:rPr lang="en-GB" dirty="0"/>
              <a:t> NLBSE’23 Tool Competition Dataset (6,738 samples)</a:t>
            </a:r>
            <a:br>
              <a:rPr lang="en-GB" dirty="0"/>
            </a:br>
            <a:r>
              <a:rPr lang="en-GB" b="1" dirty="0"/>
              <a:t>Link: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https://nlbse2023.github.io/tools/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592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487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Project 2: Code Comment Classification</vt:lpstr>
      <vt:lpstr>What is Code Comment Classification?</vt:lpstr>
      <vt:lpstr>Problem</vt:lpstr>
      <vt:lpstr>Dataset Overview</vt:lpstr>
      <vt:lpstr>Methodology</vt:lpstr>
      <vt:lpstr>Evaluation and Comparison</vt:lpstr>
      <vt:lpstr>Expected Outcomes</vt:lpstr>
      <vt:lpstr>Why Code Comment Classification Is Useful</vt:lpstr>
      <vt:lpstr>Why Code Comment Classification Is Useful</vt:lpstr>
      <vt:lpstr>Future Work</vt:lpstr>
      <vt:lpstr>Project 2: Code Comment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Calogero Carlino</dc:creator>
  <cp:lastModifiedBy>Calogero Carlino</cp:lastModifiedBy>
  <cp:revision>6</cp:revision>
  <dcterms:created xsi:type="dcterms:W3CDTF">2025-11-09T20:38:33Z</dcterms:created>
  <dcterms:modified xsi:type="dcterms:W3CDTF">2025-11-09T21:20:14Z</dcterms:modified>
</cp:coreProperties>
</file>